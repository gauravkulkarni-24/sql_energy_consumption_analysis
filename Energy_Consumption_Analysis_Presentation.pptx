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6" r:id="rId2"/>
    <p:sldId id="257" r:id="rId3"/>
    <p:sldId id="260" r:id="rId4"/>
    <p:sldId id="261" r:id="rId5"/>
    <p:sldId id="267" r:id="rId6"/>
    <p:sldId id="262" r:id="rId7"/>
    <p:sldId id="266" r:id="rId8"/>
    <p:sldId id="265" r:id="rId9"/>
    <p:sldId id="268" r:id="rId10"/>
    <p:sldId id="263" r:id="rId11"/>
    <p:sldId id="264" r:id="rId12"/>
    <p:sldId id="269" r:id="rId13"/>
    <p:sldId id="259" r:id="rId14"/>
  </p:sldIdLst>
  <p:sldSz cx="12192000" cy="6858000"/>
  <p:notesSz cx="6858000" cy="9144000"/>
  <p:embeddedFontLst>
    <p:embeddedFont>
      <p:font typeface="Lato Black" panose="020F0502020204030203" pitchFamily="34" charset="0"/>
      <p:bold r:id="rId16"/>
      <p:boldItalic r:id="rId17"/>
    </p:embeddedFont>
    <p:embeddedFont>
      <p:font typeface="Libre Baskerville" panose="02000000000000000000" pitchFamily="2" charset="0"/>
      <p:regular r:id="rId18"/>
      <p:bold r:id="rId19"/>
      <p: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2"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309" autoAdjust="0"/>
    <p:restoredTop sz="94660"/>
  </p:normalViewPr>
  <p:slideViewPr>
    <p:cSldViewPr snapToGrid="0">
      <p:cViewPr varScale="1">
        <p:scale>
          <a:sx n="65" d="100"/>
          <a:sy n="65" d="100"/>
        </p:scale>
        <p:origin x="44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D482A8D7-3847-7D3E-EBA1-98BE2A88BD59}"/>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EA1BABA3-A295-3FFA-DA31-15941DA544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E6317CBB-FB1C-7217-83DA-7AA5CC71A0D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7999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0FA47D6-B836-06EE-6377-ECBD1376CDF1}"/>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405975B-71F7-2737-8AA5-F5EBE0A8E08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FDDFD346-898E-1D1B-0BDD-2CDB3E6DA4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89558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87BEAE26-5C74-6479-4DB1-A752C91D1BF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2BED6412-7616-CAC4-3F0F-46F204EECB7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194CE68-6A47-3072-427D-DF9DD713B8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82698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4E3B81D7-F7DA-6DD7-5C6B-F057899A9D62}"/>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D075C79-0324-D595-C5D5-F2DCD7972DC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CA4B6A33-0AB4-3E49-3AA9-C1BC9C76D7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853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E0A8B7EB-BCD5-D310-E88F-D7782E03B2CB}"/>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B69D4C9-8FB6-0663-06C7-90724FC47C7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1E1B92D6-25A8-6115-3D50-B524E3894F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81651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7E2EC7C1-2E1B-CB9B-6F26-0E99C3743DA3}"/>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73970F18-A32A-F451-4E26-A6B7048512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2AC10AD3-466B-DB1F-1D00-94C2A905F4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7876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0BC04985-3B45-CD8B-05CE-BD3F7C46E297}"/>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5D250DEF-BFCD-E709-4C00-12BE1C18B75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89DBEF2D-BF5F-3262-CB77-C29867CA569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97553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696DF8A2-9A7A-58C2-20DB-B71AB8A8214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8C26BCD2-8750-5E9D-6CD5-B77599B814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55C8A240-99F0-20BF-A937-71DA726116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992424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2D2501E8-5F27-B24B-CCEA-0EBA7FD2CA96}"/>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0AA2CFE1-40DD-71D0-950E-30018626FC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300D82B-B843-2FB1-357F-78EF0B7FB8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778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a:extLst>
            <a:ext uri="{FF2B5EF4-FFF2-40B4-BE49-F238E27FC236}">
              <a16:creationId xmlns:a16="http://schemas.microsoft.com/office/drawing/2014/main" id="{5F453E6C-0536-194E-FC56-BD37916D1BDF}"/>
            </a:ext>
          </a:extLst>
        </p:cNvPr>
        <p:cNvGrpSpPr/>
        <p:nvPr/>
      </p:nvGrpSpPr>
      <p:grpSpPr>
        <a:xfrm>
          <a:off x="0" y="0"/>
          <a:ext cx="0" cy="0"/>
          <a:chOff x="0" y="0"/>
          <a:chExt cx="0" cy="0"/>
        </a:xfrm>
      </p:grpSpPr>
      <p:sp>
        <p:nvSpPr>
          <p:cNvPr id="107" name="Google Shape;107;p4:notes">
            <a:extLst>
              <a:ext uri="{FF2B5EF4-FFF2-40B4-BE49-F238E27FC236}">
                <a16:creationId xmlns:a16="http://schemas.microsoft.com/office/drawing/2014/main" id="{C99B6E05-7D35-ED3B-234C-9557CC8A0B0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a:extLst>
              <a:ext uri="{FF2B5EF4-FFF2-40B4-BE49-F238E27FC236}">
                <a16:creationId xmlns:a16="http://schemas.microsoft.com/office/drawing/2014/main" id="{9566A313-04C7-3539-73A7-C7B17B76134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2243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linkedin.com/in/gaurav-kulkarni-6b4aa422a"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hyperlink" Target="https://github.com/gauravkulkarni-24"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858000"/>
          </a:xfrm>
          <a:prstGeom prst="rect">
            <a:avLst/>
          </a:prstGeom>
          <a:noFill/>
          <a:ln>
            <a:noFill/>
          </a:ln>
        </p:spPr>
      </p:pic>
      <p:sp>
        <p:nvSpPr>
          <p:cNvPr id="99" name="Google Shape;99;p1"/>
          <p:cNvSpPr txBox="1"/>
          <p:nvPr/>
        </p:nvSpPr>
        <p:spPr>
          <a:xfrm>
            <a:off x="2948470" y="3991896"/>
            <a:ext cx="6295057" cy="1569620"/>
          </a:xfrm>
          <a:prstGeom prst="rect">
            <a:avLst/>
          </a:prstGeom>
          <a:noFill/>
          <a:ln>
            <a:noFill/>
          </a:ln>
        </p:spPr>
        <p:txBody>
          <a:bodyPr spcFirstLastPara="1" wrap="square" lIns="91425" tIns="45700" rIns="91425" bIns="45700" anchor="t" anchorCtr="0">
            <a:spAutoFit/>
          </a:bodyPr>
          <a:lstStyle/>
          <a:p>
            <a:pPr lvl="0" algn="ctr">
              <a:buSzPts val="1800"/>
            </a:pPr>
            <a:r>
              <a:rPr lang="en-IN" sz="4800" b="1" dirty="0">
                <a:solidFill>
                  <a:schemeClr val="tx1"/>
                </a:solidFill>
                <a:latin typeface="Times New Roman" panose="02020603050405020304" pitchFamily="18" charset="0"/>
                <a:cs typeface="Times New Roman" panose="02020603050405020304" pitchFamily="18" charset="0"/>
              </a:rPr>
              <a:t>World Wide Energy Consumption Analysis</a:t>
            </a:r>
            <a:endParaRPr sz="4800" b="1" i="0" strike="noStrike" cap="none" dirty="0">
              <a:solidFill>
                <a:schemeClr val="tx1"/>
              </a:solidFill>
              <a:latin typeface="Times New Roman" panose="02020603050405020304" pitchFamily="18" charset="0"/>
              <a:cs typeface="Times New Roman" panose="02020603050405020304" pitchFamily="18" charset="0"/>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427657" y="416554"/>
            <a:ext cx="2180790" cy="535491"/>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600" b="1" i="0" u="none" strike="noStrike" cap="none" dirty="0">
                <a:solidFill>
                  <a:srgbClr val="FF0000"/>
                </a:solidFill>
                <a:latin typeface="Times New Roman" panose="02020603050405020304" pitchFamily="18" charset="0"/>
                <a:ea typeface="Lato Black"/>
                <a:cs typeface="Times New Roman" panose="02020603050405020304" pitchFamily="18" charset="0"/>
                <a:sym typeface="Lato Black"/>
              </a:rPr>
              <a:t>About me</a:t>
            </a:r>
            <a:endParaRPr sz="2000" b="1" i="0" u="none" strike="noStrike" cap="none" dirty="0">
              <a:solidFill>
                <a:srgbClr val="FF0000"/>
              </a:solidFill>
              <a:latin typeface="Times New Roman" panose="02020603050405020304" pitchFamily="18" charset="0"/>
              <a:ea typeface="Calibri"/>
              <a:cs typeface="Times New Roman" panose="02020603050405020304" pitchFamily="18" charset="0"/>
              <a:sym typeface="Calibri"/>
            </a:endParaRPr>
          </a:p>
        </p:txBody>
      </p:sp>
      <p:sp>
        <p:nvSpPr>
          <p:cNvPr id="4" name="TextBox 3">
            <a:extLst>
              <a:ext uri="{FF2B5EF4-FFF2-40B4-BE49-F238E27FC236}">
                <a16:creationId xmlns:a16="http://schemas.microsoft.com/office/drawing/2014/main" id="{C0DFEC5B-1B8B-0555-7D64-57FAB09ED16D}"/>
              </a:ext>
            </a:extLst>
          </p:cNvPr>
          <p:cNvSpPr txBox="1"/>
          <p:nvPr/>
        </p:nvSpPr>
        <p:spPr>
          <a:xfrm>
            <a:off x="730484" y="1163550"/>
            <a:ext cx="10357819" cy="5170646"/>
          </a:xfrm>
          <a:prstGeom prst="rect">
            <a:avLst/>
          </a:prstGeom>
          <a:noFill/>
        </p:spPr>
        <p:txBody>
          <a:bodyPr wrap="square">
            <a:spAutoFit/>
          </a:bodyPr>
          <a:lstStyle/>
          <a:p>
            <a:pPr>
              <a:buNone/>
            </a:pPr>
            <a:r>
              <a:rPr lang="en-IN" sz="2400" b="1" dirty="0">
                <a:latin typeface="Times New Roman" panose="02020603050405020304" pitchFamily="18" charset="0"/>
                <a:cs typeface="Times New Roman" panose="02020603050405020304" pitchFamily="18" charset="0"/>
              </a:rPr>
              <a:t>Gaurav Sunil Kulkarni</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B.E. in Electronics &amp; Telecommunication Engineering (D. Y. Patil College Of Engineering, </a:t>
            </a:r>
            <a:r>
              <a:rPr lang="en-IN" sz="1800" dirty="0" err="1">
                <a:latin typeface="Times New Roman" panose="02020603050405020304" pitchFamily="18" charset="0"/>
                <a:cs typeface="Times New Roman" panose="02020603050405020304" pitchFamily="18" charset="0"/>
              </a:rPr>
              <a:t>Akurdi</a:t>
            </a:r>
            <a:r>
              <a:rPr lang="en-IN" sz="1800" dirty="0">
                <a:latin typeface="Times New Roman" panose="02020603050405020304" pitchFamily="18" charset="0"/>
                <a:cs typeface="Times New Roman" panose="02020603050405020304" pitchFamily="18" charset="0"/>
              </a:rPr>
              <a:t>, Pune)</a:t>
            </a:r>
          </a:p>
          <a:p>
            <a:pPr>
              <a:buNone/>
            </a:pPr>
            <a:endParaRPr lang="en-IN" sz="1800" b="1" dirty="0">
              <a:latin typeface="Times New Roman" panose="02020603050405020304" pitchFamily="18" charset="0"/>
              <a:cs typeface="Times New Roman" panose="02020603050405020304" pitchFamily="18" charset="0"/>
            </a:endParaRPr>
          </a:p>
          <a:p>
            <a:pPr>
              <a:buNone/>
            </a:pPr>
            <a:r>
              <a:rPr lang="en-IN" sz="1800" b="1" dirty="0">
                <a:latin typeface="Times New Roman" panose="02020603050405020304" pitchFamily="18" charset="0"/>
                <a:cs typeface="Times New Roman" panose="02020603050405020304" pitchFamily="18" charset="0"/>
              </a:rPr>
              <a:t>Why I Want to Learn Data Science:</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I’m passionate about understanding real-world data and uncovering insights that can help make informed, efficient, and impactful decisions.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Learning Data Science helps me connect technology with analysis — turning data into solutions.</a:t>
            </a:r>
          </a:p>
          <a:p>
            <a:pPr>
              <a:buNone/>
            </a:pPr>
            <a:endParaRPr lang="en-IN" sz="1800" b="1" dirty="0">
              <a:latin typeface="Times New Roman" panose="02020603050405020304" pitchFamily="18" charset="0"/>
              <a:cs typeface="Times New Roman" panose="02020603050405020304" pitchFamily="18" charset="0"/>
            </a:endParaRPr>
          </a:p>
          <a:p>
            <a:pPr>
              <a:buNone/>
            </a:pPr>
            <a:r>
              <a:rPr lang="en-IN" sz="1800" b="1" dirty="0">
                <a:latin typeface="Times New Roman" panose="02020603050405020304" pitchFamily="18" charset="0"/>
                <a:cs typeface="Times New Roman" panose="02020603050405020304" pitchFamily="18" charset="0"/>
              </a:rPr>
              <a:t>Work Experience / Projects:</a:t>
            </a:r>
            <a:endParaRPr lang="en-IN" sz="1800" dirty="0">
              <a:latin typeface="Times New Roman" panose="02020603050405020304" pitchFamily="18" charset="0"/>
              <a:cs typeface="Times New Roman" panose="02020603050405020304" pitchFamily="18" charset="0"/>
            </a:endParaRPr>
          </a:p>
          <a:p>
            <a:pPr marL="285750" indent="-285750">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Energy Consumption Analysis — SQL &amp; Excel-based study of global energy usage and trends.</a:t>
            </a:r>
          </a:p>
          <a:p>
            <a:pPr marL="285750" indent="-285750">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Student Performance Dashboard — Built in Excel for analysing academic results and improvement areas.</a:t>
            </a:r>
          </a:p>
          <a:p>
            <a:pPr marL="285750" indent="-285750">
              <a:buFont typeface="Courier New" panose="02070309020205020404" pitchFamily="49" charset="0"/>
              <a:buChar char="o"/>
            </a:pPr>
            <a:r>
              <a:rPr lang="en-US" sz="1800" dirty="0">
                <a:latin typeface="Times New Roman" panose="02020603050405020304" pitchFamily="18" charset="0"/>
                <a:cs typeface="Times New Roman" panose="02020603050405020304" pitchFamily="18" charset="0"/>
              </a:rPr>
              <a:t>Weather Forecasting App — Developed using Android Studio &amp; Java (real-time API integration).</a:t>
            </a:r>
          </a:p>
          <a:p>
            <a:pPr marL="285750" indent="-285750">
              <a:buFont typeface="Courier New" panose="02070309020205020404" pitchFamily="49" charset="0"/>
              <a:buChar char="o"/>
            </a:pPr>
            <a:r>
              <a:rPr lang="en-IN" sz="1800" dirty="0">
                <a:latin typeface="Times New Roman" panose="02020603050405020304" pitchFamily="18" charset="0"/>
                <a:cs typeface="Times New Roman" panose="02020603050405020304" pitchFamily="18" charset="0"/>
              </a:rPr>
              <a:t>GPS-Enhanced Safety Pouch — IoT project using ESP32, GPS, and GSM for personal safety tracking.</a:t>
            </a:r>
          </a:p>
          <a:p>
            <a:pPr>
              <a:buNone/>
            </a:pPr>
            <a:endParaRPr lang="en-IN" sz="1800" b="1" dirty="0">
              <a:latin typeface="Times New Roman" panose="02020603050405020304" pitchFamily="18" charset="0"/>
              <a:cs typeface="Times New Roman" panose="02020603050405020304" pitchFamily="18" charset="0"/>
            </a:endParaRPr>
          </a:p>
          <a:p>
            <a:pPr>
              <a:buNone/>
            </a:pPr>
            <a:r>
              <a:rPr lang="en-IN" sz="1800" b="1" dirty="0">
                <a:latin typeface="Times New Roman" panose="02020603050405020304" pitchFamily="18" charset="0"/>
                <a:cs typeface="Times New Roman" panose="02020603050405020304" pitchFamily="18" charset="0"/>
              </a:rPr>
              <a:t>Profiles:</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LinkedIn: </a:t>
            </a:r>
            <a:r>
              <a:rPr lang="en-IN" sz="1800" dirty="0">
                <a:latin typeface="Times New Roman" panose="02020603050405020304" pitchFamily="18" charset="0"/>
                <a:cs typeface="Times New Roman" panose="02020603050405020304" pitchFamily="18" charset="0"/>
                <a:hlinkClick r:id="rId3"/>
              </a:rPr>
              <a:t>linkedin.com/in/gaurav-kulkarni-6b4aa422a</a:t>
            </a:r>
            <a:br>
              <a:rPr lang="en-IN" sz="1800" dirty="0">
                <a:latin typeface="Times New Roman" panose="02020603050405020304" pitchFamily="18" charset="0"/>
                <a:cs typeface="Times New Roman" panose="02020603050405020304" pitchFamily="18" charset="0"/>
              </a:rPr>
            </a:br>
            <a:r>
              <a:rPr lang="en-IN" sz="1800" dirty="0">
                <a:latin typeface="Times New Roman" panose="02020603050405020304" pitchFamily="18" charset="0"/>
                <a:cs typeface="Times New Roman" panose="02020603050405020304" pitchFamily="18" charset="0"/>
              </a:rPr>
              <a:t>💻 GitHub: </a:t>
            </a:r>
            <a:r>
              <a:rPr lang="en-IN" sz="1800" dirty="0">
                <a:latin typeface="Times New Roman" panose="02020603050405020304" pitchFamily="18" charset="0"/>
                <a:cs typeface="Times New Roman" panose="02020603050405020304" pitchFamily="18" charset="0"/>
                <a:hlinkClick r:id="rId4"/>
              </a:rPr>
              <a:t>https://github.com/gauravkulkarni-24</a:t>
            </a:r>
            <a:endParaRPr lang="en-IN" sz="1800" dirty="0">
              <a:latin typeface="Times New Roman" panose="02020603050405020304" pitchFamily="18" charset="0"/>
              <a:cs typeface="Times New Roman" panose="02020603050405020304" pitchFamily="18" charset="0"/>
            </a:endParaRPr>
          </a:p>
          <a:p>
            <a:pPr>
              <a:buNone/>
            </a:pPr>
            <a:endParaRPr lang="en-IN" sz="1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2DB05EF-1600-12E7-3A85-F02EC221A96D}"/>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68677D07-0078-91D8-1348-328AB68C908C}"/>
              </a:ext>
            </a:extLst>
          </p:cNvPr>
          <p:cNvSpPr txBox="1">
            <a:spLocks noGrp="1"/>
          </p:cNvSpPr>
          <p:nvPr>
            <p:ph type="title"/>
          </p:nvPr>
        </p:nvSpPr>
        <p:spPr>
          <a:xfrm>
            <a:off x="420228" y="355141"/>
            <a:ext cx="4219149" cy="6651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sz="3600" b="1" dirty="0">
                <a:solidFill>
                  <a:srgbClr val="FF0000"/>
                </a:solidFill>
                <a:latin typeface="Times New Roman" panose="02020603050405020304" pitchFamily="18" charset="0"/>
                <a:cs typeface="Times New Roman" panose="02020603050405020304" pitchFamily="18" charset="0"/>
              </a:rPr>
              <a:t>Objective of project</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0E083CF-5FA0-A332-717E-63A5C68D3FC7}"/>
              </a:ext>
            </a:extLst>
          </p:cNvPr>
          <p:cNvSpPr txBox="1"/>
          <p:nvPr/>
        </p:nvSpPr>
        <p:spPr>
          <a:xfrm>
            <a:off x="671361" y="1553157"/>
            <a:ext cx="8520764" cy="2554545"/>
          </a:xfrm>
          <a:prstGeom prst="rect">
            <a:avLst/>
          </a:prstGeom>
          <a:noFill/>
        </p:spPr>
        <p:txBody>
          <a:bodyPr wrap="square">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main objective of the Energy Consumption Analysis project is to study and understand how energy is produced, consumed, and emitted across different countries.</a:t>
            </a:r>
            <a:br>
              <a:rPr lang="en-US" sz="2000" dirty="0">
                <a:latin typeface="Times New Roman" panose="02020603050405020304" pitchFamily="18" charset="0"/>
                <a:cs typeface="Times New Roman" panose="02020603050405020304" pitchFamily="18" charset="0"/>
              </a:rPr>
            </a:br>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By analyzing large datasets containing information about energy types, GDP, population, and emissions, the project aims to identify patterns, trends, and relationships that can help optimize energy use, reduce wastage, and support sustainable development.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6157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0B5F3CC-8DDC-8174-F7A3-4134D9A23515}"/>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F88B8188-068C-7921-7564-257B2C350155}"/>
              </a:ext>
            </a:extLst>
          </p:cNvPr>
          <p:cNvSpPr txBox="1">
            <a:spLocks noGrp="1"/>
          </p:cNvSpPr>
          <p:nvPr>
            <p:ph type="title"/>
          </p:nvPr>
        </p:nvSpPr>
        <p:spPr>
          <a:xfrm>
            <a:off x="420228" y="355141"/>
            <a:ext cx="4219149" cy="6651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a:buNone/>
            </a:pPr>
            <a:r>
              <a:rPr lang="en-US" sz="3200" b="1" dirty="0">
                <a:solidFill>
                  <a:srgbClr val="FF0000"/>
                </a:solidFill>
                <a:latin typeface="Times New Roman" panose="02020603050405020304" pitchFamily="18" charset="0"/>
                <a:cs typeface="Times New Roman" panose="02020603050405020304" pitchFamily="18" charset="0"/>
              </a:rPr>
              <a:t>E-R Diagram</a:t>
            </a:r>
            <a:endParaRPr sz="32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391BF70-3798-2F87-E93E-41F3A852E7F7}"/>
              </a:ext>
            </a:extLst>
          </p:cNvPr>
          <p:cNvPicPr>
            <a:picLocks noChangeAspect="1"/>
          </p:cNvPicPr>
          <p:nvPr/>
        </p:nvPicPr>
        <p:blipFill>
          <a:blip r:embed="rId3"/>
          <a:stretch>
            <a:fillRect/>
          </a:stretch>
        </p:blipFill>
        <p:spPr>
          <a:xfrm>
            <a:off x="3348720" y="548640"/>
            <a:ext cx="6892559" cy="5520843"/>
          </a:xfrm>
          <a:prstGeom prst="rect">
            <a:avLst/>
          </a:prstGeom>
        </p:spPr>
      </p:pic>
    </p:spTree>
    <p:extLst>
      <p:ext uri="{BB962C8B-B14F-4D97-AF65-F5344CB8AC3E}">
        <p14:creationId xmlns:p14="http://schemas.microsoft.com/office/powerpoint/2010/main" val="1208834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FB3B6AF3-FE5D-92CC-50B9-3B87C2C37BD8}"/>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834199E6-D70B-A650-FE36-2657ACCCD333}"/>
              </a:ext>
            </a:extLst>
          </p:cNvPr>
          <p:cNvSpPr txBox="1">
            <a:spLocks noGrp="1"/>
          </p:cNvSpPr>
          <p:nvPr>
            <p:ph type="title"/>
          </p:nvPr>
        </p:nvSpPr>
        <p:spPr>
          <a:xfrm>
            <a:off x="452312" y="335890"/>
            <a:ext cx="5643688" cy="963522"/>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IN" sz="3200" b="1" dirty="0">
                <a:solidFill>
                  <a:srgbClr val="FF0000"/>
                </a:solidFill>
                <a:latin typeface="Times New Roman" panose="02020603050405020304" pitchFamily="18" charset="0"/>
                <a:cs typeface="Times New Roman" panose="02020603050405020304" pitchFamily="18" charset="0"/>
              </a:rPr>
              <a:t>Key analysis questions</a:t>
            </a:r>
            <a:endParaRPr sz="32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4D82A4A-75DB-D6A1-5D90-B7220DB8365D}"/>
              </a:ext>
            </a:extLst>
          </p:cNvPr>
          <p:cNvSpPr txBox="1"/>
          <p:nvPr/>
        </p:nvSpPr>
        <p:spPr>
          <a:xfrm>
            <a:off x="584732" y="1583471"/>
            <a:ext cx="10465069" cy="2246769"/>
          </a:xfrm>
          <a:prstGeom prst="rect">
            <a:avLst/>
          </a:prstGeom>
          <a:noFill/>
        </p:spPr>
        <p:txBody>
          <a:bodyPr wrap="square">
            <a:spAutoFit/>
          </a:bodyPr>
          <a:lstStyle/>
          <a:p>
            <a:pPr marL="457200" indent="-457200">
              <a:buFont typeface="+mj-lt"/>
              <a:buAutoNum type="arabicPeriod"/>
            </a:pPr>
            <a:r>
              <a:rPr lang="en-US" sz="2800" b="1" dirty="0">
                <a:solidFill>
                  <a:schemeClr val="tx1"/>
                </a:solidFill>
                <a:latin typeface="Times New Roman" panose="02020603050405020304" pitchFamily="18" charset="0"/>
                <a:cs typeface="Times New Roman" panose="02020603050405020304" pitchFamily="18" charset="0"/>
              </a:rPr>
              <a:t>Total emission per country for the most recent year.</a:t>
            </a:r>
          </a:p>
          <a:p>
            <a:pPr marL="457200" indent="-457200">
              <a:buFont typeface="+mj-lt"/>
              <a:buAutoNum type="arabicPeriod"/>
            </a:pPr>
            <a:r>
              <a:rPr lang="en-US" sz="2800" b="1" dirty="0">
                <a:solidFill>
                  <a:schemeClr val="tx1"/>
                </a:solidFill>
                <a:latin typeface="Times New Roman" panose="02020603050405020304" pitchFamily="18" charset="0"/>
                <a:cs typeface="Times New Roman" panose="02020603050405020304" pitchFamily="18" charset="0"/>
              </a:rPr>
              <a:t>Global emissions change year over year.</a:t>
            </a:r>
          </a:p>
          <a:p>
            <a:pPr marL="457200" indent="-457200">
              <a:buFont typeface="+mj-lt"/>
              <a:buAutoNum type="arabicPeriod"/>
            </a:pPr>
            <a:r>
              <a:rPr lang="en-US" sz="2800" b="1" dirty="0">
                <a:solidFill>
                  <a:schemeClr val="tx1"/>
                </a:solidFill>
                <a:latin typeface="Times New Roman" panose="02020603050405020304" pitchFamily="18" charset="0"/>
                <a:cs typeface="Times New Roman" panose="02020603050405020304" pitchFamily="18" charset="0"/>
              </a:rPr>
              <a:t>Energy types contributing most to emissions across all countries.</a:t>
            </a:r>
          </a:p>
          <a:p>
            <a:pPr marL="457200" indent="-457200">
              <a:buFont typeface="+mj-lt"/>
              <a:buAutoNum type="arabicPeriod"/>
            </a:pPr>
            <a:r>
              <a:rPr lang="en-US" sz="2800" b="1" dirty="0">
                <a:solidFill>
                  <a:schemeClr val="tx1"/>
                </a:solidFill>
                <a:latin typeface="Times New Roman" panose="02020603050405020304" pitchFamily="18" charset="0"/>
                <a:cs typeface="Times New Roman" panose="02020603050405020304" pitchFamily="18" charset="0"/>
              </a:rPr>
              <a:t>Top 5 countries by GDP in the most recent year.</a:t>
            </a:r>
          </a:p>
          <a:p>
            <a:pPr marL="457200" indent="-457200">
              <a:buFont typeface="+mj-lt"/>
              <a:buAutoNum type="arabicPeriod"/>
            </a:pPr>
            <a:r>
              <a:rPr lang="en-US" sz="2800" b="1" dirty="0">
                <a:solidFill>
                  <a:schemeClr val="tx1"/>
                </a:solidFill>
                <a:latin typeface="Times New Roman" panose="02020603050405020304" pitchFamily="18" charset="0"/>
                <a:cs typeface="Times New Roman" panose="02020603050405020304" pitchFamily="18" charset="0"/>
              </a:rPr>
              <a:t>Energy production and consumption by country and year.</a:t>
            </a:r>
            <a:endParaRPr lang="en-IN" sz="2800" dirty="0">
              <a:solidFill>
                <a:schemeClr val="tx1"/>
              </a:solidFill>
            </a:endParaRPr>
          </a:p>
        </p:txBody>
      </p:sp>
    </p:spTree>
    <p:extLst>
      <p:ext uri="{BB962C8B-B14F-4D97-AF65-F5344CB8AC3E}">
        <p14:creationId xmlns:p14="http://schemas.microsoft.com/office/powerpoint/2010/main" val="3900556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F20D052-F2E6-BB21-54D4-8AA4338A86B9}"/>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0C8D20F9-CDEA-F45D-C4EF-A9C3A73EA893}"/>
              </a:ext>
            </a:extLst>
          </p:cNvPr>
          <p:cNvSpPr txBox="1">
            <a:spLocks noGrp="1"/>
          </p:cNvSpPr>
          <p:nvPr>
            <p:ph type="title"/>
          </p:nvPr>
        </p:nvSpPr>
        <p:spPr>
          <a:xfrm>
            <a:off x="420228" y="355141"/>
            <a:ext cx="9185785" cy="665138"/>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US" sz="3600" b="1" dirty="0">
                <a:solidFill>
                  <a:srgbClr val="FF0000"/>
                </a:solidFill>
                <a:latin typeface="Times New Roman" panose="02020603050405020304" pitchFamily="18" charset="0"/>
                <a:cs typeface="Times New Roman" panose="02020603050405020304" pitchFamily="18" charset="0"/>
              </a:rPr>
              <a:t>Total emission per country for the most recent year</a:t>
            </a:r>
            <a:endParaRPr sz="36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8A06206-C0AB-FCC6-11CD-E98959718E3C}"/>
              </a:ext>
            </a:extLst>
          </p:cNvPr>
          <p:cNvPicPr>
            <a:picLocks noChangeAspect="1"/>
          </p:cNvPicPr>
          <p:nvPr/>
        </p:nvPicPr>
        <p:blipFill>
          <a:blip r:embed="rId3"/>
          <a:stretch>
            <a:fillRect/>
          </a:stretch>
        </p:blipFill>
        <p:spPr>
          <a:xfrm>
            <a:off x="684834" y="1627958"/>
            <a:ext cx="5220429" cy="1638529"/>
          </a:xfrm>
          <a:prstGeom prst="rect">
            <a:avLst/>
          </a:prstGeom>
        </p:spPr>
      </p:pic>
      <p:pic>
        <p:nvPicPr>
          <p:cNvPr id="6" name="Picture 5">
            <a:extLst>
              <a:ext uri="{FF2B5EF4-FFF2-40B4-BE49-F238E27FC236}">
                <a16:creationId xmlns:a16="http://schemas.microsoft.com/office/drawing/2014/main" id="{8A08A143-0FFC-7BF0-C2C5-AC54221D9692}"/>
              </a:ext>
            </a:extLst>
          </p:cNvPr>
          <p:cNvPicPr>
            <a:picLocks noChangeAspect="1"/>
          </p:cNvPicPr>
          <p:nvPr/>
        </p:nvPicPr>
        <p:blipFill>
          <a:blip r:embed="rId4"/>
          <a:stretch>
            <a:fillRect/>
          </a:stretch>
        </p:blipFill>
        <p:spPr>
          <a:xfrm>
            <a:off x="684834" y="3591514"/>
            <a:ext cx="4123848" cy="2266005"/>
          </a:xfrm>
          <a:prstGeom prst="rect">
            <a:avLst/>
          </a:prstGeom>
        </p:spPr>
      </p:pic>
      <p:sp>
        <p:nvSpPr>
          <p:cNvPr id="8" name="TextBox 7">
            <a:extLst>
              <a:ext uri="{FF2B5EF4-FFF2-40B4-BE49-F238E27FC236}">
                <a16:creationId xmlns:a16="http://schemas.microsoft.com/office/drawing/2014/main" id="{4A99AB41-6A3A-F73A-BB09-5F6DCEF5D897}"/>
              </a:ext>
            </a:extLst>
          </p:cNvPr>
          <p:cNvSpPr txBox="1"/>
          <p:nvPr/>
        </p:nvSpPr>
        <p:spPr>
          <a:xfrm>
            <a:off x="6096000" y="2314241"/>
            <a:ext cx="5767939" cy="3293209"/>
          </a:xfrm>
          <a:prstGeom prst="rect">
            <a:avLst/>
          </a:prstGeom>
          <a:noFill/>
        </p:spPr>
        <p:txBody>
          <a:bodyPr wrap="square">
            <a:spAutoFit/>
          </a:bodyPr>
          <a:lstStyle/>
          <a:p>
            <a:pPr>
              <a:buNone/>
            </a:pPr>
            <a:r>
              <a:rPr lang="en-US" sz="1600" dirty="0"/>
              <a:t>This query helped me find which countries produce the highest emissions in the latest available year.</a:t>
            </a:r>
          </a:p>
          <a:p>
            <a:pPr>
              <a:buNone/>
            </a:pPr>
            <a:br>
              <a:rPr lang="en-US" sz="1600" dirty="0"/>
            </a:br>
            <a:r>
              <a:rPr lang="en-US" sz="1600" dirty="0"/>
              <a:t>I used the SQL functions </a:t>
            </a:r>
            <a:r>
              <a:rPr lang="en-US" sz="1600" b="1" dirty="0"/>
              <a:t>SUM()</a:t>
            </a:r>
            <a:r>
              <a:rPr lang="en-US" sz="1600" dirty="0"/>
              <a:t> and </a:t>
            </a:r>
            <a:r>
              <a:rPr lang="en-US" sz="1600" b="1" dirty="0"/>
              <a:t>GROUP BY country</a:t>
            </a:r>
            <a:r>
              <a:rPr lang="en-US" sz="1600" dirty="0"/>
              <a:t> to calculate total emissions.</a:t>
            </a:r>
          </a:p>
          <a:p>
            <a:pPr>
              <a:buNone/>
            </a:pPr>
            <a:endParaRPr lang="en-US" sz="1600" dirty="0"/>
          </a:p>
          <a:p>
            <a:pPr>
              <a:buNone/>
            </a:pPr>
            <a:r>
              <a:rPr lang="en-US" sz="1600" dirty="0"/>
              <a:t>For example, if India emitted 100 units and China emitted 300, the query sums those to rank countries by emission.</a:t>
            </a:r>
          </a:p>
          <a:p>
            <a:pPr>
              <a:buNone/>
            </a:pPr>
            <a:endParaRPr lang="en-US" sz="1600" dirty="0"/>
          </a:p>
          <a:p>
            <a:pPr>
              <a:buNone/>
            </a:pPr>
            <a:r>
              <a:rPr lang="en-US" sz="1600" dirty="0"/>
              <a:t>From my result, I found that </a:t>
            </a:r>
            <a:r>
              <a:rPr lang="en-US" sz="1600" b="1" dirty="0"/>
              <a:t>China and the USA</a:t>
            </a:r>
            <a:r>
              <a:rPr lang="en-US" sz="1600" dirty="0"/>
              <a:t> have the highest emissions — which makes sense because they have large industries, high populations, and massive energy consumption.</a:t>
            </a:r>
          </a:p>
        </p:txBody>
      </p:sp>
    </p:spTree>
    <p:extLst>
      <p:ext uri="{BB962C8B-B14F-4D97-AF65-F5344CB8AC3E}">
        <p14:creationId xmlns:p14="http://schemas.microsoft.com/office/powerpoint/2010/main" val="20321400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CCC4DA05-2DAB-0012-537E-CB31C3635168}"/>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911312D-5A16-664E-05E2-5B7B0C90C63A}"/>
              </a:ext>
            </a:extLst>
          </p:cNvPr>
          <p:cNvSpPr txBox="1">
            <a:spLocks noGrp="1"/>
          </p:cNvSpPr>
          <p:nvPr>
            <p:ph type="title"/>
          </p:nvPr>
        </p:nvSpPr>
        <p:spPr>
          <a:xfrm>
            <a:off x="429853" y="509145"/>
            <a:ext cx="9792176" cy="665138"/>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US" sz="3200" b="1" dirty="0">
                <a:solidFill>
                  <a:srgbClr val="FF0000"/>
                </a:solidFill>
                <a:latin typeface="Times New Roman" panose="02020603050405020304" pitchFamily="18" charset="0"/>
                <a:cs typeface="Times New Roman" panose="02020603050405020304" pitchFamily="18" charset="0"/>
              </a:rPr>
              <a:t>Global emissions change year over year</a:t>
            </a:r>
            <a:endParaRPr sz="32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1489D8E1-3834-32D4-07E0-69D218C29D97}"/>
              </a:ext>
            </a:extLst>
          </p:cNvPr>
          <p:cNvPicPr>
            <a:picLocks noChangeAspect="1"/>
          </p:cNvPicPr>
          <p:nvPr/>
        </p:nvPicPr>
        <p:blipFill>
          <a:blip r:embed="rId3"/>
          <a:stretch>
            <a:fillRect/>
          </a:stretch>
        </p:blipFill>
        <p:spPr>
          <a:xfrm>
            <a:off x="684834" y="1729503"/>
            <a:ext cx="4744112" cy="1295581"/>
          </a:xfrm>
          <a:prstGeom prst="rect">
            <a:avLst/>
          </a:prstGeom>
        </p:spPr>
      </p:pic>
      <p:pic>
        <p:nvPicPr>
          <p:cNvPr id="7" name="Picture 6">
            <a:extLst>
              <a:ext uri="{FF2B5EF4-FFF2-40B4-BE49-F238E27FC236}">
                <a16:creationId xmlns:a16="http://schemas.microsoft.com/office/drawing/2014/main" id="{0A7BE054-AC71-F0C8-F3AF-889AE6D09CCA}"/>
              </a:ext>
            </a:extLst>
          </p:cNvPr>
          <p:cNvPicPr>
            <a:picLocks noChangeAspect="1"/>
          </p:cNvPicPr>
          <p:nvPr/>
        </p:nvPicPr>
        <p:blipFill>
          <a:blip r:embed="rId4"/>
          <a:stretch>
            <a:fillRect/>
          </a:stretch>
        </p:blipFill>
        <p:spPr>
          <a:xfrm>
            <a:off x="684834" y="3580304"/>
            <a:ext cx="3000194" cy="1761816"/>
          </a:xfrm>
          <a:prstGeom prst="rect">
            <a:avLst/>
          </a:prstGeom>
        </p:spPr>
      </p:pic>
      <p:sp>
        <p:nvSpPr>
          <p:cNvPr id="9" name="TextBox 8">
            <a:extLst>
              <a:ext uri="{FF2B5EF4-FFF2-40B4-BE49-F238E27FC236}">
                <a16:creationId xmlns:a16="http://schemas.microsoft.com/office/drawing/2014/main" id="{92BA042E-8681-2A6A-E1CE-A8E1584B6FFD}"/>
              </a:ext>
            </a:extLst>
          </p:cNvPr>
          <p:cNvSpPr txBox="1"/>
          <p:nvPr/>
        </p:nvSpPr>
        <p:spPr>
          <a:xfrm>
            <a:off x="5325941" y="2678755"/>
            <a:ext cx="6095198" cy="2308324"/>
          </a:xfrm>
          <a:prstGeom prst="rect">
            <a:avLst/>
          </a:prstGeom>
          <a:noFill/>
        </p:spPr>
        <p:txBody>
          <a:bodyPr wrap="square">
            <a:spAutoFit/>
          </a:bodyPr>
          <a:lstStyle/>
          <a:p>
            <a:pPr>
              <a:buNone/>
            </a:pPr>
            <a:r>
              <a:rPr lang="en-US" sz="1600" dirty="0">
                <a:latin typeface="Times New Roman" panose="02020603050405020304" pitchFamily="18" charset="0"/>
                <a:cs typeface="Times New Roman" panose="02020603050405020304" pitchFamily="18" charset="0"/>
              </a:rPr>
              <a:t>This query shows how total global emissions have changed over time.</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 grouped the data by year and summed all emissions for each year.</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The result showed that global emissions are </a:t>
            </a:r>
            <a:r>
              <a:rPr lang="en-US" sz="1600" b="1" dirty="0">
                <a:latin typeface="Times New Roman" panose="02020603050405020304" pitchFamily="18" charset="0"/>
                <a:cs typeface="Times New Roman" panose="02020603050405020304" pitchFamily="18" charset="0"/>
              </a:rPr>
              <a:t>increasing almost every year</a:t>
            </a:r>
            <a:r>
              <a:rPr lang="en-US" sz="1600" dirty="0">
                <a:latin typeface="Times New Roman" panose="02020603050405020304" pitchFamily="18" charset="0"/>
                <a:cs typeface="Times New Roman" panose="02020603050405020304" pitchFamily="18" charset="0"/>
              </a:rPr>
              <a:t>, mainly due to industrialization and rising demand for energy.</a:t>
            </a:r>
          </a:p>
          <a:p>
            <a:pPr>
              <a:buNone/>
            </a:pP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Interestingly, there was a </a:t>
            </a:r>
            <a:r>
              <a:rPr lang="en-US" sz="1600" b="1" dirty="0">
                <a:latin typeface="Times New Roman" panose="02020603050405020304" pitchFamily="18" charset="0"/>
                <a:cs typeface="Times New Roman" panose="02020603050405020304" pitchFamily="18" charset="0"/>
              </a:rPr>
              <a:t>small drop around 2020</a:t>
            </a:r>
            <a:r>
              <a:rPr lang="en-US" sz="1600" dirty="0">
                <a:latin typeface="Times New Roman" panose="02020603050405020304" pitchFamily="18" charset="0"/>
                <a:cs typeface="Times New Roman" panose="02020603050405020304" pitchFamily="18" charset="0"/>
              </a:rPr>
              <a:t>, likely because of lockdowns during the COVID-19 pandemic when industries and travel were restricted.</a:t>
            </a:r>
          </a:p>
        </p:txBody>
      </p:sp>
    </p:spTree>
    <p:extLst>
      <p:ext uri="{BB962C8B-B14F-4D97-AF65-F5344CB8AC3E}">
        <p14:creationId xmlns:p14="http://schemas.microsoft.com/office/powerpoint/2010/main" val="408265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7C779720-5516-7E32-8968-4C26957666D8}"/>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74B71740-03BC-727F-AFEA-E0CACE4CC642}"/>
              </a:ext>
            </a:extLst>
          </p:cNvPr>
          <p:cNvSpPr txBox="1">
            <a:spLocks noGrp="1"/>
          </p:cNvSpPr>
          <p:nvPr>
            <p:ph type="title"/>
          </p:nvPr>
        </p:nvSpPr>
        <p:spPr>
          <a:xfrm>
            <a:off x="429853" y="509145"/>
            <a:ext cx="9792176" cy="665138"/>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US" sz="3600" b="1" dirty="0">
                <a:solidFill>
                  <a:srgbClr val="FF0000"/>
                </a:solidFill>
                <a:latin typeface="Times New Roman" panose="02020603050405020304" pitchFamily="18" charset="0"/>
                <a:cs typeface="Times New Roman" panose="02020603050405020304" pitchFamily="18" charset="0"/>
              </a:rPr>
              <a:t>Energy types contributing most to emissions across all countries</a:t>
            </a:r>
            <a:endParaRPr sz="3600" b="1" dirty="0">
              <a:solidFill>
                <a:srgbClr val="FF0000"/>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544199C3-367F-7D0F-AE88-C37E98807F06}"/>
              </a:ext>
            </a:extLst>
          </p:cNvPr>
          <p:cNvPicPr>
            <a:picLocks noChangeAspect="1"/>
          </p:cNvPicPr>
          <p:nvPr/>
        </p:nvPicPr>
        <p:blipFill>
          <a:blip r:embed="rId3"/>
          <a:stretch>
            <a:fillRect/>
          </a:stretch>
        </p:blipFill>
        <p:spPr>
          <a:xfrm>
            <a:off x="684834" y="1675928"/>
            <a:ext cx="5525271" cy="1305107"/>
          </a:xfrm>
          <a:prstGeom prst="rect">
            <a:avLst/>
          </a:prstGeom>
        </p:spPr>
      </p:pic>
      <p:pic>
        <p:nvPicPr>
          <p:cNvPr id="6" name="Picture 5">
            <a:extLst>
              <a:ext uri="{FF2B5EF4-FFF2-40B4-BE49-F238E27FC236}">
                <a16:creationId xmlns:a16="http://schemas.microsoft.com/office/drawing/2014/main" id="{7378EEC9-C7BD-40DB-915F-46A21741CD3E}"/>
              </a:ext>
            </a:extLst>
          </p:cNvPr>
          <p:cNvPicPr>
            <a:picLocks noChangeAspect="1"/>
          </p:cNvPicPr>
          <p:nvPr/>
        </p:nvPicPr>
        <p:blipFill>
          <a:blip r:embed="rId4"/>
          <a:stretch>
            <a:fillRect/>
          </a:stretch>
        </p:blipFill>
        <p:spPr>
          <a:xfrm>
            <a:off x="684834" y="3580304"/>
            <a:ext cx="5125744" cy="1819468"/>
          </a:xfrm>
          <a:prstGeom prst="rect">
            <a:avLst/>
          </a:prstGeom>
        </p:spPr>
      </p:pic>
      <p:sp>
        <p:nvSpPr>
          <p:cNvPr id="9" name="TextBox 8">
            <a:extLst>
              <a:ext uri="{FF2B5EF4-FFF2-40B4-BE49-F238E27FC236}">
                <a16:creationId xmlns:a16="http://schemas.microsoft.com/office/drawing/2014/main" id="{F952BABA-7F41-CF45-1B02-96C91D09651D}"/>
              </a:ext>
            </a:extLst>
          </p:cNvPr>
          <p:cNvSpPr txBox="1"/>
          <p:nvPr/>
        </p:nvSpPr>
        <p:spPr>
          <a:xfrm>
            <a:off x="5984507" y="2328481"/>
            <a:ext cx="6097604" cy="3046988"/>
          </a:xfrm>
          <a:prstGeom prst="rect">
            <a:avLst/>
          </a:prstGeom>
          <a:noFill/>
        </p:spPr>
        <p:txBody>
          <a:bodyPr wrap="square">
            <a:spAutoFit/>
          </a:bodyPr>
          <a:lstStyle/>
          <a:p>
            <a:pPr>
              <a:buNone/>
            </a:pPr>
            <a:r>
              <a:rPr lang="en-US" sz="1600" dirty="0">
                <a:latin typeface="Times New Roman" panose="02020603050405020304" pitchFamily="18" charset="0"/>
                <a:cs typeface="Times New Roman" panose="02020603050405020304" pitchFamily="18" charset="0"/>
              </a:rPr>
              <a:t>In this query, I analyzed which </a:t>
            </a:r>
            <a:r>
              <a:rPr lang="en-US" sz="1600" b="1" dirty="0">
                <a:latin typeface="Times New Roman" panose="02020603050405020304" pitchFamily="18" charset="0"/>
                <a:cs typeface="Times New Roman" panose="02020603050405020304" pitchFamily="18" charset="0"/>
              </a:rPr>
              <a:t>energy types</a:t>
            </a:r>
            <a:r>
              <a:rPr lang="en-US" sz="1600" dirty="0">
                <a:latin typeface="Times New Roman" panose="02020603050405020304" pitchFamily="18" charset="0"/>
                <a:cs typeface="Times New Roman" panose="02020603050405020304" pitchFamily="18" charset="0"/>
              </a:rPr>
              <a:t> — like coal, oil, gas, or renewables — produce the most emissions.</a:t>
            </a:r>
          </a:p>
          <a:p>
            <a:pPr>
              <a:buNone/>
            </a:pP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 used </a:t>
            </a:r>
            <a:r>
              <a:rPr lang="en-US" sz="1600" b="1" dirty="0">
                <a:latin typeface="Times New Roman" panose="02020603050405020304" pitchFamily="18" charset="0"/>
                <a:cs typeface="Times New Roman" panose="02020603050405020304" pitchFamily="18" charset="0"/>
              </a:rPr>
              <a:t>GROUP BY </a:t>
            </a:r>
            <a:r>
              <a:rPr lang="en-US" sz="1600" b="1" dirty="0" err="1">
                <a:latin typeface="Times New Roman" panose="02020603050405020304" pitchFamily="18" charset="0"/>
                <a:cs typeface="Times New Roman" panose="02020603050405020304" pitchFamily="18" charset="0"/>
              </a:rPr>
              <a:t>energy_type</a:t>
            </a:r>
            <a:r>
              <a:rPr lang="en-US" sz="1600" dirty="0">
                <a:latin typeface="Times New Roman" panose="02020603050405020304" pitchFamily="18" charset="0"/>
                <a:cs typeface="Times New Roman" panose="02020603050405020304" pitchFamily="18" charset="0"/>
              </a:rPr>
              <a:t> and </a:t>
            </a:r>
            <a:r>
              <a:rPr lang="en-US" sz="1600" b="1" dirty="0">
                <a:latin typeface="Times New Roman" panose="02020603050405020304" pitchFamily="18" charset="0"/>
                <a:cs typeface="Times New Roman" panose="02020603050405020304" pitchFamily="18" charset="0"/>
              </a:rPr>
              <a:t>SUM(emission)</a:t>
            </a:r>
            <a:r>
              <a:rPr lang="en-US" sz="1600" dirty="0">
                <a:latin typeface="Times New Roman" panose="02020603050405020304" pitchFamily="18" charset="0"/>
                <a:cs typeface="Times New Roman" panose="02020603050405020304" pitchFamily="18" charset="0"/>
              </a:rPr>
              <a:t> to calculate totals for each source.</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The output clearly showed that </a:t>
            </a:r>
            <a:r>
              <a:rPr lang="en-US" sz="1600" b="1" dirty="0">
                <a:latin typeface="Times New Roman" panose="02020603050405020304" pitchFamily="18" charset="0"/>
                <a:cs typeface="Times New Roman" panose="02020603050405020304" pitchFamily="18" charset="0"/>
              </a:rPr>
              <a:t>coal contributes the highest emissions</a:t>
            </a:r>
            <a:r>
              <a:rPr lang="en-US" sz="1600" dirty="0">
                <a:latin typeface="Times New Roman" panose="02020603050405020304" pitchFamily="18" charset="0"/>
                <a:cs typeface="Times New Roman" panose="02020603050405020304" pitchFamily="18" charset="0"/>
              </a:rPr>
              <a:t>, followed by oil and gas.</a:t>
            </a:r>
          </a:p>
          <a:p>
            <a:pPr>
              <a:buNone/>
            </a:pP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Renewable energy sources, on the other hand, have very low emissions.</a:t>
            </a:r>
          </a:p>
          <a:p>
            <a:pPr>
              <a:buNone/>
            </a:pPr>
            <a:r>
              <a:rPr lang="en-US" sz="1600" dirty="0">
                <a:latin typeface="Times New Roman" panose="02020603050405020304" pitchFamily="18" charset="0"/>
                <a:cs typeface="Times New Roman" panose="02020603050405020304" pitchFamily="18" charset="0"/>
              </a:rPr>
              <a:t>This highlights why countries are moving toward </a:t>
            </a:r>
            <a:r>
              <a:rPr lang="en-US" sz="1600" b="1" dirty="0">
                <a:latin typeface="Times New Roman" panose="02020603050405020304" pitchFamily="18" charset="0"/>
                <a:cs typeface="Times New Roman" panose="02020603050405020304" pitchFamily="18" charset="0"/>
              </a:rPr>
              <a:t>solar, wind, and hydro energy</a:t>
            </a:r>
            <a:r>
              <a:rPr lang="en-US" sz="1600" dirty="0">
                <a:latin typeface="Times New Roman" panose="02020603050405020304" pitchFamily="18" charset="0"/>
                <a:cs typeface="Times New Roman" panose="02020603050405020304" pitchFamily="18" charset="0"/>
              </a:rPr>
              <a:t> to achieve sustainability goals.</a:t>
            </a:r>
          </a:p>
        </p:txBody>
      </p:sp>
    </p:spTree>
    <p:extLst>
      <p:ext uri="{BB962C8B-B14F-4D97-AF65-F5344CB8AC3E}">
        <p14:creationId xmlns:p14="http://schemas.microsoft.com/office/powerpoint/2010/main" val="37010980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A8F91D57-3707-CB7A-F01A-96361B32FE5D}"/>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9F568051-DD9E-5584-7242-6A656656C36B}"/>
              </a:ext>
            </a:extLst>
          </p:cNvPr>
          <p:cNvSpPr txBox="1">
            <a:spLocks noGrp="1"/>
          </p:cNvSpPr>
          <p:nvPr>
            <p:ph type="title"/>
          </p:nvPr>
        </p:nvSpPr>
        <p:spPr>
          <a:xfrm>
            <a:off x="429853" y="509145"/>
            <a:ext cx="1533701" cy="665138"/>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US" sz="3600" b="1" dirty="0">
                <a:solidFill>
                  <a:srgbClr val="FF0000"/>
                </a:solidFill>
                <a:latin typeface="Times New Roman" panose="02020603050405020304" pitchFamily="18" charset="0"/>
                <a:cs typeface="Times New Roman" panose="02020603050405020304" pitchFamily="18" charset="0"/>
              </a:rPr>
              <a:t>GDP</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0FBB43B-8B35-CD8F-187D-6B31C07BB25C}"/>
              </a:ext>
            </a:extLst>
          </p:cNvPr>
          <p:cNvSpPr txBox="1"/>
          <p:nvPr/>
        </p:nvSpPr>
        <p:spPr>
          <a:xfrm>
            <a:off x="671362" y="1315654"/>
            <a:ext cx="9521792" cy="707886"/>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GDP (Gross Domestic Product)</a:t>
            </a:r>
            <a:r>
              <a:rPr lang="en-US" sz="2000" dirty="0">
                <a:latin typeface="Times New Roman" panose="02020603050405020304" pitchFamily="18" charset="0"/>
                <a:cs typeface="Times New Roman" panose="02020603050405020304" pitchFamily="18" charset="0"/>
              </a:rPr>
              <a:t> is the </a:t>
            </a:r>
            <a:r>
              <a:rPr lang="en-US" sz="2000" b="1" dirty="0">
                <a:latin typeface="Times New Roman" panose="02020603050405020304" pitchFamily="18" charset="0"/>
                <a:cs typeface="Times New Roman" panose="02020603050405020304" pitchFamily="18" charset="0"/>
              </a:rPr>
              <a:t>total monetary value of all goods and services</a:t>
            </a:r>
            <a:r>
              <a:rPr lang="en-US" sz="2000" dirty="0">
                <a:latin typeface="Times New Roman" panose="02020603050405020304" pitchFamily="18" charset="0"/>
                <a:cs typeface="Times New Roman" panose="02020603050405020304" pitchFamily="18" charset="0"/>
              </a:rPr>
              <a:t> produced within a country during a specific period — usually a year.</a:t>
            </a:r>
            <a:endParaRPr lang="en-IN" sz="20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2FB36826-4839-3345-A092-410AEAC3B21A}"/>
              </a:ext>
            </a:extLst>
          </p:cNvPr>
          <p:cNvSpPr txBox="1"/>
          <p:nvPr/>
        </p:nvSpPr>
        <p:spPr>
          <a:xfrm>
            <a:off x="1196703" y="2164911"/>
            <a:ext cx="8755819" cy="4278094"/>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GDP Formula:</a:t>
            </a:r>
          </a:p>
          <a:p>
            <a:pPr>
              <a:buNone/>
            </a:pPr>
            <a:endParaRPr lang="en-US" b="1"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Expenditure Method (Most Common)</a:t>
            </a:r>
          </a:p>
          <a:p>
            <a:pPr>
              <a:buNone/>
            </a:pPr>
            <a:r>
              <a:rPr lang="en-US" sz="1600" dirty="0">
                <a:latin typeface="Times New Roman" panose="02020603050405020304" pitchFamily="18" charset="0"/>
                <a:cs typeface="Times New Roman" panose="02020603050405020304" pitchFamily="18" charset="0"/>
              </a:rPr>
              <a:t>GDP = C + I + G + (X − M)</a:t>
            </a:r>
          </a:p>
          <a:p>
            <a:pPr>
              <a:buNone/>
            </a:pPr>
            <a:r>
              <a:rPr lang="en-US" sz="1600" dirty="0">
                <a:latin typeface="Times New Roman" panose="02020603050405020304" pitchFamily="18" charset="0"/>
                <a:cs typeface="Times New Roman" panose="02020603050405020304" pitchFamily="18" charset="0"/>
              </a:rPr>
              <a:t>Where:</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C</a:t>
            </a:r>
            <a:r>
              <a:rPr lang="en-US" sz="1600" dirty="0">
                <a:latin typeface="Times New Roman" panose="02020603050405020304" pitchFamily="18" charset="0"/>
                <a:cs typeface="Times New Roman" panose="02020603050405020304" pitchFamily="18" charset="0"/>
              </a:rPr>
              <a:t> = Consumption (spending by people)</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a:t>
            </a:r>
            <a:r>
              <a:rPr lang="en-US" sz="1600" dirty="0">
                <a:latin typeface="Times New Roman" panose="02020603050405020304" pitchFamily="18" charset="0"/>
                <a:cs typeface="Times New Roman" panose="02020603050405020304" pitchFamily="18" charset="0"/>
              </a:rPr>
              <a:t> = Investment (spending by businesses)</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G</a:t>
            </a:r>
            <a:r>
              <a:rPr lang="en-US" sz="1600" dirty="0">
                <a:latin typeface="Times New Roman" panose="02020603050405020304" pitchFamily="18" charset="0"/>
                <a:cs typeface="Times New Roman" panose="02020603050405020304" pitchFamily="18" charset="0"/>
              </a:rPr>
              <a:t> = Government spending</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X</a:t>
            </a:r>
            <a:r>
              <a:rPr lang="en-US" sz="1600" dirty="0">
                <a:latin typeface="Times New Roman" panose="02020603050405020304" pitchFamily="18" charset="0"/>
                <a:cs typeface="Times New Roman" panose="02020603050405020304" pitchFamily="18" charset="0"/>
              </a:rPr>
              <a:t> = Exports (goods sold to other countries)</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a:t>
            </a:r>
            <a:r>
              <a:rPr lang="en-US" sz="1600" dirty="0">
                <a:latin typeface="Times New Roman" panose="02020603050405020304" pitchFamily="18" charset="0"/>
                <a:cs typeface="Times New Roman" panose="02020603050405020304" pitchFamily="18" charset="0"/>
              </a:rPr>
              <a:t> = Imports (goods bought from other countries)</a:t>
            </a:r>
          </a:p>
          <a:p>
            <a:pPr>
              <a:buNone/>
            </a:pPr>
            <a:r>
              <a:rPr lang="en-US" sz="1600" dirty="0">
                <a:latin typeface="Times New Roman" panose="02020603050405020304" pitchFamily="18" charset="0"/>
                <a:cs typeface="Times New Roman" panose="02020603050405020304" pitchFamily="18" charset="0"/>
              </a:rPr>
              <a:t>This formula tells us how money flows through an economy.</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b="1" dirty="0">
                <a:latin typeface="Times New Roman" panose="02020603050405020304" pitchFamily="18" charset="0"/>
                <a:cs typeface="Times New Roman" panose="02020603050405020304" pitchFamily="18" charset="0"/>
              </a:rPr>
              <a:t>Example:</a:t>
            </a:r>
          </a:p>
          <a:p>
            <a:pPr>
              <a:buNone/>
            </a:pP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If people spend ₹100 crore (C), businesses invest ₹50 crore (I),</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government spends ₹30 crore (G), exports are ₹40 crore (X), and imports are ₹20 crore (M), then:</a:t>
            </a:r>
          </a:p>
          <a:p>
            <a:pPr>
              <a:buNone/>
            </a:pPr>
            <a:r>
              <a:rPr lang="en-US" sz="1600" dirty="0">
                <a:latin typeface="Times New Roman" panose="02020603050405020304" pitchFamily="18" charset="0"/>
                <a:cs typeface="Times New Roman" panose="02020603050405020304" pitchFamily="18" charset="0"/>
              </a:rPr>
              <a:t>GDP = 100 + 50 + 30 + (40 − 20) = ₹200 crore</a:t>
            </a:r>
          </a:p>
        </p:txBody>
      </p:sp>
    </p:spTree>
    <p:extLst>
      <p:ext uri="{BB962C8B-B14F-4D97-AF65-F5344CB8AC3E}">
        <p14:creationId xmlns:p14="http://schemas.microsoft.com/office/powerpoint/2010/main" val="401669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02B05330-093E-503F-A898-33ECF095603C}"/>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2B521035-BD3B-8690-E7F5-6ACEE6353F80}"/>
              </a:ext>
            </a:extLst>
          </p:cNvPr>
          <p:cNvSpPr txBox="1">
            <a:spLocks noGrp="1"/>
          </p:cNvSpPr>
          <p:nvPr>
            <p:ph type="title"/>
          </p:nvPr>
        </p:nvSpPr>
        <p:spPr>
          <a:xfrm>
            <a:off x="420228" y="355141"/>
            <a:ext cx="9185785" cy="665138"/>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US" sz="3600" b="1" dirty="0">
                <a:solidFill>
                  <a:srgbClr val="FF0000"/>
                </a:solidFill>
                <a:latin typeface="Times New Roman" panose="02020603050405020304" pitchFamily="18" charset="0"/>
                <a:cs typeface="Times New Roman" panose="02020603050405020304" pitchFamily="18" charset="0"/>
              </a:rPr>
              <a:t>Top 5 countries by GDP in the most recent year</a:t>
            </a:r>
            <a:endParaRPr sz="3600" b="1" dirty="0">
              <a:solidFill>
                <a:srgbClr val="FF000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5241A50-9A9C-88B0-701A-200AA49A2776}"/>
              </a:ext>
            </a:extLst>
          </p:cNvPr>
          <p:cNvPicPr>
            <a:picLocks noChangeAspect="1"/>
          </p:cNvPicPr>
          <p:nvPr/>
        </p:nvPicPr>
        <p:blipFill>
          <a:blip r:embed="rId3"/>
          <a:stretch>
            <a:fillRect/>
          </a:stretch>
        </p:blipFill>
        <p:spPr>
          <a:xfrm>
            <a:off x="684834" y="1362719"/>
            <a:ext cx="4956722" cy="1746241"/>
          </a:xfrm>
          <a:prstGeom prst="rect">
            <a:avLst/>
          </a:prstGeom>
        </p:spPr>
      </p:pic>
      <p:pic>
        <p:nvPicPr>
          <p:cNvPr id="7" name="Picture 6">
            <a:extLst>
              <a:ext uri="{FF2B5EF4-FFF2-40B4-BE49-F238E27FC236}">
                <a16:creationId xmlns:a16="http://schemas.microsoft.com/office/drawing/2014/main" id="{B28A2B59-A2C1-8029-63DC-26E274DC0280}"/>
              </a:ext>
            </a:extLst>
          </p:cNvPr>
          <p:cNvPicPr>
            <a:picLocks noChangeAspect="1"/>
          </p:cNvPicPr>
          <p:nvPr/>
        </p:nvPicPr>
        <p:blipFill>
          <a:blip r:embed="rId4"/>
          <a:stretch>
            <a:fillRect/>
          </a:stretch>
        </p:blipFill>
        <p:spPr>
          <a:xfrm>
            <a:off x="684834" y="3482681"/>
            <a:ext cx="3309650" cy="2121244"/>
          </a:xfrm>
          <a:prstGeom prst="rect">
            <a:avLst/>
          </a:prstGeom>
        </p:spPr>
      </p:pic>
      <p:sp>
        <p:nvSpPr>
          <p:cNvPr id="9" name="TextBox 8">
            <a:extLst>
              <a:ext uri="{FF2B5EF4-FFF2-40B4-BE49-F238E27FC236}">
                <a16:creationId xmlns:a16="http://schemas.microsoft.com/office/drawing/2014/main" id="{916B516C-957E-0AA9-A676-C93D33626072}"/>
              </a:ext>
            </a:extLst>
          </p:cNvPr>
          <p:cNvSpPr txBox="1"/>
          <p:nvPr/>
        </p:nvSpPr>
        <p:spPr>
          <a:xfrm>
            <a:off x="5013120" y="3108960"/>
            <a:ext cx="6096000" cy="2062103"/>
          </a:xfrm>
          <a:prstGeom prst="rect">
            <a:avLst/>
          </a:prstGeom>
          <a:noFill/>
        </p:spPr>
        <p:txBody>
          <a:bodyPr wrap="square">
            <a:spAutoFit/>
          </a:bodyPr>
          <a:lstStyle/>
          <a:p>
            <a:pPr>
              <a:buNone/>
            </a:pPr>
            <a:r>
              <a:rPr lang="en-US" sz="1600" dirty="0">
                <a:latin typeface="Times New Roman" panose="02020603050405020304" pitchFamily="18" charset="0"/>
                <a:cs typeface="Times New Roman" panose="02020603050405020304" pitchFamily="18" charset="0"/>
              </a:rPr>
              <a:t>The result showed the </a:t>
            </a:r>
            <a:r>
              <a:rPr lang="en-US" sz="1600" b="1" dirty="0">
                <a:latin typeface="Times New Roman" panose="02020603050405020304" pitchFamily="18" charset="0"/>
                <a:cs typeface="Times New Roman" panose="02020603050405020304" pitchFamily="18" charset="0"/>
              </a:rPr>
              <a:t>United States, China, Japan, Germany, and India</a:t>
            </a:r>
            <a:r>
              <a:rPr lang="en-US" sz="1600" dirty="0">
                <a:latin typeface="Times New Roman" panose="02020603050405020304" pitchFamily="18" charset="0"/>
                <a:cs typeface="Times New Roman" panose="02020603050405020304" pitchFamily="18" charset="0"/>
              </a:rPr>
              <a:t> as the top GDP countries.</a:t>
            </a:r>
          </a:p>
          <a:p>
            <a:pPr>
              <a:buNone/>
            </a:pP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Higher GDP usually means higher industrial activity, which leads to higher energy use and emissions.</a:t>
            </a:r>
          </a:p>
          <a:p>
            <a:pPr>
              <a:buNone/>
            </a:pPr>
            <a:endParaRPr lang="en-US" sz="1600"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This query helped link the </a:t>
            </a:r>
            <a:r>
              <a:rPr lang="en-US" sz="1600" b="1" dirty="0">
                <a:latin typeface="Times New Roman" panose="02020603050405020304" pitchFamily="18" charset="0"/>
                <a:cs typeface="Times New Roman" panose="02020603050405020304" pitchFamily="18" charset="0"/>
              </a:rPr>
              <a:t>economic strength</a:t>
            </a:r>
            <a:r>
              <a:rPr lang="en-US" sz="1600" dirty="0">
                <a:latin typeface="Times New Roman" panose="02020603050405020304" pitchFamily="18" charset="0"/>
                <a:cs typeface="Times New Roman" panose="02020603050405020304" pitchFamily="18" charset="0"/>
              </a:rPr>
              <a:t> of a country with its </a:t>
            </a:r>
            <a:r>
              <a:rPr lang="en-US" sz="1600" b="1" dirty="0">
                <a:latin typeface="Times New Roman" panose="02020603050405020304" pitchFamily="18" charset="0"/>
                <a:cs typeface="Times New Roman" panose="02020603050405020304" pitchFamily="18" charset="0"/>
              </a:rPr>
              <a:t>energy demand</a:t>
            </a:r>
            <a:r>
              <a:rPr lang="en-US" sz="1600" dirty="0">
                <a:latin typeface="Times New Roman" panose="02020603050405020304" pitchFamily="18" charset="0"/>
                <a:cs typeface="Times New Roman" panose="02020603050405020304" pitchFamily="18" charset="0"/>
              </a:rPr>
              <a:t> — showing how energy powers growth.</a:t>
            </a:r>
          </a:p>
        </p:txBody>
      </p:sp>
    </p:spTree>
    <p:extLst>
      <p:ext uri="{BB962C8B-B14F-4D97-AF65-F5344CB8AC3E}">
        <p14:creationId xmlns:p14="http://schemas.microsoft.com/office/powerpoint/2010/main" val="957950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2ACA4105-C50E-E191-3FCE-DB47A792E1B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DCD0B19-65FF-6F82-D0ED-671C7DB04449}"/>
              </a:ext>
            </a:extLst>
          </p:cNvPr>
          <p:cNvSpPr txBox="1">
            <a:spLocks noGrp="1"/>
          </p:cNvSpPr>
          <p:nvPr>
            <p:ph type="title"/>
          </p:nvPr>
        </p:nvSpPr>
        <p:spPr>
          <a:xfrm>
            <a:off x="420228" y="355141"/>
            <a:ext cx="10408193" cy="665138"/>
          </a:xfrm>
          <a:prstGeom prst="rect">
            <a:avLst/>
          </a:prstGeom>
          <a:noFill/>
          <a:ln>
            <a:noFill/>
          </a:ln>
        </p:spPr>
        <p:txBody>
          <a:bodyPr spcFirstLastPara="1" wrap="square" lIns="91425" tIns="45700" rIns="91425" bIns="45700" anchor="ctr" anchorCtr="0">
            <a:normAutofit fontScale="90000"/>
          </a:bodyPr>
          <a:lstStyle/>
          <a:p>
            <a:pPr lvl="0">
              <a:buClr>
                <a:srgbClr val="FF0000"/>
              </a:buClr>
              <a:buSzPts val="4400"/>
            </a:pPr>
            <a:r>
              <a:rPr lang="en-US" sz="3600" b="1" dirty="0">
                <a:solidFill>
                  <a:srgbClr val="FF0000"/>
                </a:solidFill>
                <a:latin typeface="Times New Roman" panose="02020603050405020304" pitchFamily="18" charset="0"/>
                <a:cs typeface="Times New Roman" panose="02020603050405020304" pitchFamily="18" charset="0"/>
              </a:rPr>
              <a:t>Energy production and consumption by country and year</a:t>
            </a:r>
            <a:endParaRPr sz="3600"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414D5D7-D4D1-40EC-CAAA-D5D31C3C3AE6}"/>
              </a:ext>
            </a:extLst>
          </p:cNvPr>
          <p:cNvPicPr>
            <a:picLocks noChangeAspect="1"/>
          </p:cNvPicPr>
          <p:nvPr/>
        </p:nvPicPr>
        <p:blipFill>
          <a:blip r:embed="rId3"/>
          <a:stretch>
            <a:fillRect/>
          </a:stretch>
        </p:blipFill>
        <p:spPr>
          <a:xfrm>
            <a:off x="688125" y="1428598"/>
            <a:ext cx="10488489" cy="2172003"/>
          </a:xfrm>
          <a:prstGeom prst="rect">
            <a:avLst/>
          </a:prstGeom>
        </p:spPr>
      </p:pic>
      <p:sp>
        <p:nvSpPr>
          <p:cNvPr id="9" name="TextBox 8">
            <a:extLst>
              <a:ext uri="{FF2B5EF4-FFF2-40B4-BE49-F238E27FC236}">
                <a16:creationId xmlns:a16="http://schemas.microsoft.com/office/drawing/2014/main" id="{05D8D4EB-0252-3888-D3E5-99A58A9F2C6A}"/>
              </a:ext>
            </a:extLst>
          </p:cNvPr>
          <p:cNvSpPr txBox="1"/>
          <p:nvPr/>
        </p:nvSpPr>
        <p:spPr>
          <a:xfrm>
            <a:off x="2112672" y="4008920"/>
            <a:ext cx="7639393" cy="1815882"/>
          </a:xfrm>
          <a:prstGeom prst="rect">
            <a:avLst/>
          </a:prstGeom>
          <a:noFill/>
        </p:spPr>
        <p:txBody>
          <a:bodyPr wrap="square">
            <a:spAutoFit/>
          </a:bodyPr>
          <a:lstStyle/>
          <a:p>
            <a:pPr>
              <a:buNone/>
            </a:pPr>
            <a:r>
              <a:rPr lang="en-US" sz="1600" dirty="0">
                <a:latin typeface="Times New Roman" panose="02020603050405020304" pitchFamily="18" charset="0"/>
                <a:cs typeface="Times New Roman" panose="02020603050405020304" pitchFamily="18" charset="0"/>
              </a:rPr>
              <a:t>if a country produces 100 units but consumes 150, it means it </a:t>
            </a:r>
            <a:r>
              <a:rPr lang="en-US" sz="1600" b="1" dirty="0">
                <a:latin typeface="Times New Roman" panose="02020603050405020304" pitchFamily="18" charset="0"/>
                <a:cs typeface="Times New Roman" panose="02020603050405020304" pitchFamily="18" charset="0"/>
              </a:rPr>
              <a:t>imports</a:t>
            </a:r>
            <a:r>
              <a:rPr lang="en-US" sz="1600" dirty="0">
                <a:latin typeface="Times New Roman" panose="02020603050405020304" pitchFamily="18" charset="0"/>
                <a:cs typeface="Times New Roman" panose="02020603050405020304" pitchFamily="18" charset="0"/>
              </a:rPr>
              <a:t> energy.</a:t>
            </a:r>
          </a:p>
          <a:p>
            <a:pPr>
              <a:buNone/>
            </a:pP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If it produces more than it consumes, it’s an </a:t>
            </a:r>
            <a:r>
              <a:rPr lang="en-US" sz="1600" b="1" dirty="0">
                <a:latin typeface="Times New Roman" panose="02020603050405020304" pitchFamily="18" charset="0"/>
                <a:cs typeface="Times New Roman" panose="02020603050405020304" pitchFamily="18" charset="0"/>
              </a:rPr>
              <a:t>exporter</a:t>
            </a:r>
            <a:r>
              <a:rPr lang="en-US" sz="1600" dirty="0">
                <a:latin typeface="Times New Roman" panose="02020603050405020304" pitchFamily="18" charset="0"/>
                <a:cs typeface="Times New Roman" panose="02020603050405020304" pitchFamily="18" charset="0"/>
              </a:rPr>
              <a:t>.</a:t>
            </a:r>
          </a:p>
          <a:p>
            <a:pPr>
              <a:buNone/>
            </a:pPr>
            <a:r>
              <a:rPr lang="en-US" sz="1600" dirty="0">
                <a:latin typeface="Times New Roman" panose="02020603050405020304" pitchFamily="18" charset="0"/>
                <a:cs typeface="Times New Roman" panose="02020603050405020304" pitchFamily="18" charset="0"/>
              </a:rPr>
              <a:t>From my results, countries like </a:t>
            </a:r>
            <a:r>
              <a:rPr lang="en-US" sz="1600" b="1" dirty="0">
                <a:latin typeface="Times New Roman" panose="02020603050405020304" pitchFamily="18" charset="0"/>
                <a:cs typeface="Times New Roman" panose="02020603050405020304" pitchFamily="18" charset="0"/>
              </a:rPr>
              <a:t>Japan and India</a:t>
            </a:r>
            <a:r>
              <a:rPr lang="en-US" sz="1600" dirty="0">
                <a:latin typeface="Times New Roman" panose="02020603050405020304" pitchFamily="18" charset="0"/>
                <a:cs typeface="Times New Roman" panose="02020603050405020304" pitchFamily="18" charset="0"/>
              </a:rPr>
              <a:t> consume more than they produce,</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p>
            <a:pPr>
              <a:buNone/>
            </a:pPr>
            <a:r>
              <a:rPr lang="en-US" sz="1600" dirty="0">
                <a:latin typeface="Times New Roman" panose="02020603050405020304" pitchFamily="18" charset="0"/>
                <a:cs typeface="Times New Roman" panose="02020603050405020304" pitchFamily="18" charset="0"/>
              </a:rPr>
              <a:t>while countries like </a:t>
            </a:r>
            <a:r>
              <a:rPr lang="en-US" sz="1600" b="1" dirty="0">
                <a:latin typeface="Times New Roman" panose="02020603050405020304" pitchFamily="18" charset="0"/>
                <a:cs typeface="Times New Roman" panose="02020603050405020304" pitchFamily="18" charset="0"/>
              </a:rPr>
              <a:t>the USA and Russia</a:t>
            </a:r>
            <a:r>
              <a:rPr lang="en-US" sz="1600" dirty="0">
                <a:latin typeface="Times New Roman" panose="02020603050405020304" pitchFamily="18" charset="0"/>
                <a:cs typeface="Times New Roman" panose="02020603050405020304" pitchFamily="18" charset="0"/>
              </a:rPr>
              <a:t> are closer to balance or even export energy.</a:t>
            </a:r>
          </a:p>
          <a:p>
            <a:pPr>
              <a:buNone/>
            </a:pPr>
            <a:r>
              <a:rPr lang="en-US" sz="1600" dirty="0">
                <a:latin typeface="Times New Roman" panose="02020603050405020304" pitchFamily="18" charset="0"/>
                <a:cs typeface="Times New Roman" panose="02020603050405020304" pitchFamily="18" charset="0"/>
              </a:rPr>
              <a:t>This gives real insight into </a:t>
            </a:r>
            <a:r>
              <a:rPr lang="en-US" sz="1600" b="1" dirty="0">
                <a:latin typeface="Times New Roman" panose="02020603050405020304" pitchFamily="18" charset="0"/>
                <a:cs typeface="Times New Roman" panose="02020603050405020304" pitchFamily="18" charset="0"/>
              </a:rPr>
              <a:t>energy dependency and trade patterns</a:t>
            </a:r>
            <a:r>
              <a:rPr lang="en-US" sz="1600" dirty="0">
                <a:latin typeface="Times New Roman" panose="02020603050405020304" pitchFamily="18" charset="0"/>
                <a:cs typeface="Times New Roman" panose="02020603050405020304" pitchFamily="18" charset="0"/>
              </a:rPr>
              <a:t> between nations.</a:t>
            </a:r>
          </a:p>
        </p:txBody>
      </p:sp>
    </p:spTree>
    <p:extLst>
      <p:ext uri="{BB962C8B-B14F-4D97-AF65-F5344CB8AC3E}">
        <p14:creationId xmlns:p14="http://schemas.microsoft.com/office/powerpoint/2010/main" val="1250807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
          <a:extLst>
            <a:ext uri="{FF2B5EF4-FFF2-40B4-BE49-F238E27FC236}">
              <a16:creationId xmlns:a16="http://schemas.microsoft.com/office/drawing/2014/main" id="{EA85176E-44A8-0637-DACE-A132F8AFD40A}"/>
            </a:ext>
          </a:extLst>
        </p:cNvPr>
        <p:cNvGrpSpPr/>
        <p:nvPr/>
      </p:nvGrpSpPr>
      <p:grpSpPr>
        <a:xfrm>
          <a:off x="0" y="0"/>
          <a:ext cx="0" cy="0"/>
          <a:chOff x="0" y="0"/>
          <a:chExt cx="0" cy="0"/>
        </a:xfrm>
      </p:grpSpPr>
      <p:sp>
        <p:nvSpPr>
          <p:cNvPr id="110" name="Google Shape;110;p4">
            <a:extLst>
              <a:ext uri="{FF2B5EF4-FFF2-40B4-BE49-F238E27FC236}">
                <a16:creationId xmlns:a16="http://schemas.microsoft.com/office/drawing/2014/main" id="{A3942170-3B64-4361-D70A-57EB42B8965F}"/>
              </a:ext>
            </a:extLst>
          </p:cNvPr>
          <p:cNvSpPr txBox="1">
            <a:spLocks noGrp="1"/>
          </p:cNvSpPr>
          <p:nvPr>
            <p:ph type="title"/>
          </p:nvPr>
        </p:nvSpPr>
        <p:spPr>
          <a:xfrm>
            <a:off x="420228" y="355141"/>
            <a:ext cx="2881237" cy="665138"/>
          </a:xfrm>
          <a:prstGeom prst="rect">
            <a:avLst/>
          </a:prstGeom>
          <a:noFill/>
          <a:ln>
            <a:noFill/>
          </a:ln>
        </p:spPr>
        <p:txBody>
          <a:bodyPr spcFirstLastPara="1" wrap="square" lIns="91425" tIns="45700" rIns="91425" bIns="45700" anchor="ctr" anchorCtr="0">
            <a:normAutofit/>
          </a:bodyPr>
          <a:lstStyle/>
          <a:p>
            <a:pPr lvl="0">
              <a:buClr>
                <a:srgbClr val="FF0000"/>
              </a:buClr>
              <a:buSzPts val="4400"/>
            </a:pPr>
            <a:r>
              <a:rPr lang="en-US" sz="3600" b="1" dirty="0">
                <a:solidFill>
                  <a:srgbClr val="FF0000"/>
                </a:solidFill>
                <a:latin typeface="Times New Roman" panose="02020603050405020304" pitchFamily="18" charset="0"/>
                <a:cs typeface="Times New Roman" panose="02020603050405020304" pitchFamily="18" charset="0"/>
              </a:rPr>
              <a:t>Conclusion</a:t>
            </a:r>
            <a:endParaRPr sz="3600" b="1"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F258E79D-81B5-68BA-A436-2201A57C5C76}"/>
              </a:ext>
            </a:extLst>
          </p:cNvPr>
          <p:cNvSpPr txBox="1"/>
          <p:nvPr/>
        </p:nvSpPr>
        <p:spPr>
          <a:xfrm>
            <a:off x="813256" y="1636886"/>
            <a:ext cx="9992396" cy="2246769"/>
          </a:xfrm>
          <a:prstGeom prst="rect">
            <a:avLst/>
          </a:prstGeom>
          <a:noFill/>
        </p:spPr>
        <p:txBody>
          <a:bodyPr wrap="square">
            <a:spAutoFit/>
          </a:bodyPr>
          <a:lstStyle/>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project helped me understand how data can tell real-world stories.</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With SQL, we can go beyond numbers — we can see how our energy usage connects with economy and environment.</a:t>
            </a:r>
          </a:p>
          <a:p>
            <a:endParaRPr lang="en-US" sz="20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It made me realize the importance of </a:t>
            </a:r>
            <a:r>
              <a:rPr lang="en-US" sz="2000" b="1" dirty="0">
                <a:latin typeface="Times New Roman" panose="02020603050405020304" pitchFamily="18" charset="0"/>
                <a:cs typeface="Times New Roman" panose="02020603050405020304" pitchFamily="18" charset="0"/>
              </a:rPr>
              <a:t>data analysis in solving global problems</a:t>
            </a:r>
            <a:r>
              <a:rPr lang="en-US" sz="2000" dirty="0">
                <a:latin typeface="Times New Roman" panose="02020603050405020304" pitchFamily="18" charset="0"/>
                <a:cs typeface="Times New Roman" panose="02020603050405020304" pitchFamily="18" charset="0"/>
              </a:rPr>
              <a:t> like energy conservation and climate change. </a:t>
            </a:r>
            <a:r>
              <a:rPr lang="en-US" sz="2000" i="1" dirty="0">
                <a:latin typeface="Times New Roman" panose="02020603050405020304" pitchFamily="18" charset="0"/>
                <a:cs typeface="Times New Roman" panose="02020603050405020304" pitchFamily="18" charset="0"/>
              </a:rPr>
              <a:t>“Energy saved is energy produced.”</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15927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596725" y="2659559"/>
            <a:ext cx="2802020"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dirty="0">
                <a:solidFill>
                  <a:srgbClr val="C00000"/>
                </a:solidFill>
                <a:latin typeface="Libre Baskerville"/>
                <a:ea typeface="Libre Baskerville"/>
                <a:cs typeface="Libre Baskerville"/>
                <a:sym typeface="Libre Baskerville"/>
              </a:rPr>
              <a:t>THANK YOU</a:t>
            </a:r>
            <a:endParaRPr sz="1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1001</TotalTime>
  <Words>969</Words>
  <Application>Microsoft Office PowerPoint</Application>
  <PresentationFormat>Widescreen</PresentationFormat>
  <Paragraphs>77</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Lato Black</vt:lpstr>
      <vt:lpstr>Courier New</vt:lpstr>
      <vt:lpstr>Times New Roman</vt:lpstr>
      <vt:lpstr>Calibri</vt:lpstr>
      <vt:lpstr>Libre Baskerville</vt:lpstr>
      <vt:lpstr>Wingdings</vt:lpstr>
      <vt:lpstr>Arial</vt:lpstr>
      <vt:lpstr>Office Theme</vt:lpstr>
      <vt:lpstr>PowerPoint Presentation</vt:lpstr>
      <vt:lpstr>PowerPoint Presentation</vt:lpstr>
      <vt:lpstr>Objective of project</vt:lpstr>
      <vt:lpstr>E-R Diagram</vt:lpstr>
      <vt:lpstr>Key analysis questions</vt:lpstr>
      <vt:lpstr>Total emission per country for the most recent year</vt:lpstr>
      <vt:lpstr>Global emissions change year over year</vt:lpstr>
      <vt:lpstr>Energy types contributing most to emissions across all countries</vt:lpstr>
      <vt:lpstr>GDP</vt:lpstr>
      <vt:lpstr>Top 5 countries by GDP in the most recent year</vt:lpstr>
      <vt:lpstr>Energy production and consumption by country and year</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EN21169153 FE21ETC151 Gaurav Kulkarni</cp:lastModifiedBy>
  <cp:revision>11</cp:revision>
  <dcterms:created xsi:type="dcterms:W3CDTF">2021-02-16T05:19:01Z</dcterms:created>
  <dcterms:modified xsi:type="dcterms:W3CDTF">2025-11-09T04:46:30Z</dcterms:modified>
</cp:coreProperties>
</file>